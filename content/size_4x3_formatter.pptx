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75" r:id="rId4"/>
    <p:sldId id="274" r:id="rId5"/>
    <p:sldId id="273" r:id="rId6"/>
    <p:sldId id="272" r:id="rId7"/>
    <p:sldId id="27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9" r:id="rId18"/>
  </p:sldIdLst>
  <p:sldSz cx="48768000" cy="27432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64306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B8B8B8"/>
              </a:solidFill>
              <a:prstDash val="solid"/>
              <a:miter lim="400000"/>
            </a:ln>
          </a:left>
          <a:right>
            <a:ln w="254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B8B8B8"/>
              </a:solidFill>
              <a:prstDash val="solid"/>
              <a:miter lim="400000"/>
            </a:ln>
          </a:top>
          <a:bottom>
            <a:ln w="25400" cap="flat">
              <a:solidFill>
                <a:srgbClr val="B8B8B8"/>
              </a:solidFill>
              <a:prstDash val="solid"/>
              <a:miter lim="400000"/>
            </a:ln>
          </a:bottom>
          <a:insideH>
            <a:ln w="25400" cap="flat">
              <a:solidFill>
                <a:srgbClr val="B8B8B8"/>
              </a:solidFill>
              <a:prstDash val="solid"/>
              <a:miter lim="400000"/>
            </a:ln>
          </a:insideH>
          <a:insideV>
            <a:ln w="254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606060"/>
              </a:solidFill>
              <a:prstDash val="solid"/>
              <a:miter lim="400000"/>
            </a:ln>
          </a:left>
          <a:right>
            <a:ln w="254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25400" cap="flat">
              <a:solidFill>
                <a:srgbClr val="606060"/>
              </a:solidFill>
              <a:prstDash val="solid"/>
              <a:miter lim="400000"/>
            </a:ln>
          </a:bottom>
          <a:insideH>
            <a:ln w="25400" cap="flat">
              <a:solidFill>
                <a:srgbClr val="606060"/>
              </a:solidFill>
              <a:prstDash val="solid"/>
              <a:miter lim="400000"/>
            </a:ln>
          </a:insideH>
          <a:insideV>
            <a:ln w="254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606060"/>
              </a:solidFill>
              <a:prstDash val="solid"/>
              <a:miter lim="400000"/>
            </a:ln>
          </a:left>
          <a:right>
            <a:ln w="25400" cap="flat">
              <a:solidFill>
                <a:srgbClr val="606060"/>
              </a:solidFill>
              <a:prstDash val="solid"/>
              <a:miter lim="400000"/>
            </a:ln>
          </a:right>
          <a:top>
            <a:ln w="63500" cap="flat">
              <a:solidFill>
                <a:srgbClr val="606060"/>
              </a:solidFill>
              <a:prstDash val="solid"/>
              <a:miter lim="400000"/>
            </a:ln>
          </a:top>
          <a:bottom>
            <a:ln w="25400" cap="flat">
              <a:solidFill>
                <a:srgbClr val="606060"/>
              </a:solidFill>
              <a:prstDash val="solid"/>
              <a:miter lim="400000"/>
            </a:ln>
          </a:bottom>
          <a:insideH>
            <a:ln w="25400" cap="flat">
              <a:solidFill>
                <a:srgbClr val="606060"/>
              </a:solidFill>
              <a:prstDash val="solid"/>
              <a:miter lim="400000"/>
            </a:ln>
          </a:insideH>
          <a:insideV>
            <a:ln w="254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25400" cap="flat">
              <a:solidFill>
                <a:srgbClr val="606060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5D5D5D"/>
              </a:solidFill>
              <a:prstDash val="solid"/>
              <a:miter lim="400000"/>
            </a:ln>
          </a:left>
          <a:right>
            <a:ln w="25400" cap="flat">
              <a:solidFill>
                <a:srgbClr val="5D5D5D"/>
              </a:solidFill>
              <a:prstDash val="solid"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25400" cap="flat">
              <a:solidFill>
                <a:srgbClr val="5D5D5D"/>
              </a:solidFill>
              <a:prstDash val="solid"/>
              <a:miter lim="400000"/>
            </a:ln>
          </a:bottom>
          <a:insideH>
            <a:ln w="25400" cap="flat">
              <a:solidFill>
                <a:srgbClr val="5D5D5D"/>
              </a:solidFill>
              <a:prstDash val="solid"/>
              <a:miter lim="400000"/>
            </a:ln>
          </a:insideH>
          <a:insideV>
            <a:ln w="254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5D5D5D"/>
              </a:solidFill>
              <a:prstDash val="solid"/>
              <a:miter lim="400000"/>
            </a:ln>
          </a:left>
          <a:right>
            <a:ln w="25400" cap="flat">
              <a:solidFill>
                <a:srgbClr val="5D5D5D"/>
              </a:solidFill>
              <a:prstDash val="solid"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25400" cap="flat">
              <a:solidFill>
                <a:srgbClr val="5D5D5D"/>
              </a:solidFill>
              <a:prstDash val="solid"/>
              <a:miter lim="400000"/>
            </a:ln>
          </a:bottom>
          <a:insideH>
            <a:ln w="25400" cap="flat">
              <a:solidFill>
                <a:srgbClr val="5D5D5D"/>
              </a:solidFill>
              <a:prstDash val="solid"/>
              <a:miter lim="400000"/>
            </a:ln>
          </a:insideH>
          <a:insideV>
            <a:ln w="254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5D5D5D"/>
              </a:solidFill>
              <a:prstDash val="solid"/>
              <a:miter lim="400000"/>
            </a:ln>
          </a:left>
          <a:right>
            <a:ln w="25400" cap="flat">
              <a:solidFill>
                <a:srgbClr val="5D5D5D"/>
              </a:solidFill>
              <a:prstDash val="solid"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25400" cap="flat">
              <a:solidFill>
                <a:srgbClr val="5D5D5D"/>
              </a:solidFill>
              <a:prstDash val="solid"/>
              <a:miter lim="400000"/>
            </a:ln>
          </a:bottom>
          <a:insideH>
            <a:ln w="25400" cap="flat">
              <a:solidFill>
                <a:srgbClr val="5D5D5D"/>
              </a:solidFill>
              <a:prstDash val="solid"/>
              <a:miter lim="400000"/>
            </a:ln>
          </a:insideH>
          <a:insideV>
            <a:ln w="254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A6AAA9"/>
              </a:solidFill>
              <a:prstDash val="solid"/>
              <a:miter lim="400000"/>
            </a:ln>
          </a:left>
          <a:right>
            <a:ln w="254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A6AAA9"/>
              </a:solidFill>
              <a:prstDash val="solid"/>
              <a:miter lim="400000"/>
            </a:ln>
          </a:top>
          <a:bottom>
            <a:ln w="25400" cap="flat">
              <a:solidFill>
                <a:srgbClr val="A6AAA9"/>
              </a:solidFill>
              <a:prstDash val="solid"/>
              <a:miter lim="400000"/>
            </a:ln>
          </a:bottom>
          <a:insideH>
            <a:ln w="25400" cap="flat">
              <a:solidFill>
                <a:srgbClr val="A6AAA9"/>
              </a:solidFill>
              <a:prstDash val="solid"/>
              <a:miter lim="400000"/>
            </a:ln>
          </a:insideH>
          <a:insideV>
            <a:ln w="254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A6AAA9"/>
              </a:solidFill>
              <a:prstDash val="solid"/>
              <a:miter lim="400000"/>
            </a:ln>
          </a:left>
          <a:right>
            <a:ln w="254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A6AAA9"/>
              </a:solidFill>
              <a:prstDash val="solid"/>
              <a:miter lim="400000"/>
            </a:ln>
          </a:top>
          <a:bottom>
            <a:ln w="25400" cap="flat">
              <a:solidFill>
                <a:srgbClr val="A6AAA9"/>
              </a:solidFill>
              <a:prstDash val="solid"/>
              <a:miter lim="400000"/>
            </a:ln>
          </a:bottom>
          <a:insideH>
            <a:ln w="25400" cap="flat">
              <a:solidFill>
                <a:srgbClr val="A6AAA9"/>
              </a:solidFill>
              <a:prstDash val="solid"/>
              <a:miter lim="400000"/>
            </a:ln>
          </a:insideH>
          <a:insideV>
            <a:ln w="254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A6AAA9"/>
              </a:solidFill>
              <a:prstDash val="solid"/>
              <a:miter lim="400000"/>
            </a:ln>
          </a:left>
          <a:right>
            <a:ln w="254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A6AAA9"/>
              </a:solidFill>
              <a:prstDash val="solid"/>
              <a:miter lim="400000"/>
            </a:ln>
          </a:top>
          <a:bottom>
            <a:ln w="25400" cap="flat">
              <a:solidFill>
                <a:srgbClr val="A6AAA9"/>
              </a:solidFill>
              <a:prstDash val="solid"/>
              <a:miter lim="400000"/>
            </a:ln>
          </a:bottom>
          <a:insideH>
            <a:ln w="25400" cap="flat">
              <a:solidFill>
                <a:srgbClr val="A6AAA9"/>
              </a:solidFill>
              <a:prstDash val="solid"/>
              <a:miter lim="400000"/>
            </a:ln>
          </a:insideH>
          <a:insideV>
            <a:ln w="254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A6AAA9"/>
              </a:solidFill>
              <a:prstDash val="solid"/>
              <a:miter lim="400000"/>
            </a:ln>
          </a:left>
          <a:right>
            <a:ln w="254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A6AAA9"/>
              </a:solidFill>
              <a:prstDash val="solid"/>
              <a:miter lim="400000"/>
            </a:ln>
          </a:top>
          <a:bottom>
            <a:ln w="25400" cap="flat">
              <a:solidFill>
                <a:srgbClr val="A6AAA9"/>
              </a:solidFill>
              <a:prstDash val="solid"/>
              <a:miter lim="400000"/>
            </a:ln>
          </a:bottom>
          <a:insideH>
            <a:ln w="25400" cap="flat">
              <a:solidFill>
                <a:srgbClr val="A6AAA9"/>
              </a:solidFill>
              <a:prstDash val="solid"/>
              <a:miter lim="400000"/>
            </a:ln>
          </a:insideH>
          <a:insideV>
            <a:ln w="254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25" d="100"/>
          <a:sy n="25" d="100"/>
        </p:scale>
        <p:origin x="3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667875" y="4607718"/>
            <a:ext cx="29432250" cy="9286876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67875" y="14180343"/>
            <a:ext cx="29432250" cy="317897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0400"/>
            </a:lvl1pPr>
            <a:lvl2pPr marL="0" indent="0" algn="ctr">
              <a:spcBef>
                <a:spcPts val="0"/>
              </a:spcBef>
              <a:buSzTx/>
              <a:buNone/>
              <a:defRPr sz="10400"/>
            </a:lvl2pPr>
            <a:lvl3pPr marL="0" indent="0" algn="ctr">
              <a:spcBef>
                <a:spcPts val="0"/>
              </a:spcBef>
              <a:buSzTx/>
              <a:buNone/>
              <a:defRPr sz="10400"/>
            </a:lvl3pPr>
            <a:lvl4pPr marL="0" indent="0" algn="ctr">
              <a:spcBef>
                <a:spcPts val="0"/>
              </a:spcBef>
              <a:buSzTx/>
              <a:buNone/>
              <a:defRPr sz="10400"/>
            </a:lvl4pPr>
            <a:lvl5pPr marL="0" indent="0" algn="ctr">
              <a:spcBef>
                <a:spcPts val="0"/>
              </a:spcBef>
              <a:buSzTx/>
              <a:buNone/>
              <a:defRPr sz="10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10658125" y="813093"/>
            <a:ext cx="27432004" cy="1829752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9667875" y="18895218"/>
            <a:ext cx="29432250" cy="400050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67875" y="22931437"/>
            <a:ext cx="29432250" cy="317897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0400"/>
            </a:lvl1pPr>
            <a:lvl2pPr marL="0" indent="0" algn="ctr">
              <a:spcBef>
                <a:spcPts val="0"/>
              </a:spcBef>
              <a:buSzTx/>
              <a:buNone/>
              <a:defRPr sz="10400"/>
            </a:lvl2pPr>
            <a:lvl3pPr marL="0" indent="0" algn="ctr">
              <a:spcBef>
                <a:spcPts val="0"/>
              </a:spcBef>
              <a:buSzTx/>
              <a:buNone/>
              <a:defRPr sz="10400"/>
            </a:lvl3pPr>
            <a:lvl4pPr marL="0" indent="0" algn="ctr">
              <a:spcBef>
                <a:spcPts val="0"/>
              </a:spcBef>
              <a:buSzTx/>
              <a:buNone/>
              <a:defRPr sz="10400"/>
            </a:lvl4pPr>
            <a:lvl5pPr marL="0" indent="0" algn="ctr">
              <a:spcBef>
                <a:spcPts val="0"/>
              </a:spcBef>
              <a:buSzTx/>
              <a:buNone/>
              <a:defRPr sz="10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9667875" y="9072562"/>
            <a:ext cx="29432250" cy="928687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12462867" y="1726407"/>
            <a:ext cx="34879360" cy="2325290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8774906" y="1785937"/>
            <a:ext cx="15001876" cy="11215688"/>
          </a:xfrm>
          <a:prstGeom prst="rect">
            <a:avLst/>
          </a:prstGeom>
        </p:spPr>
        <p:txBody>
          <a:bodyPr anchor="b"/>
          <a:lstStyle>
            <a:lvl1pPr>
              <a:defRPr sz="168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774906" y="13287375"/>
            <a:ext cx="15001876" cy="1157287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0400"/>
            </a:lvl1pPr>
            <a:lvl2pPr marL="0" indent="0" algn="ctr">
              <a:spcBef>
                <a:spcPts val="0"/>
              </a:spcBef>
              <a:buSzTx/>
              <a:buNone/>
              <a:defRPr sz="10400"/>
            </a:lvl2pPr>
            <a:lvl3pPr marL="0" indent="0" algn="ctr">
              <a:spcBef>
                <a:spcPts val="0"/>
              </a:spcBef>
              <a:buSzTx/>
              <a:buNone/>
              <a:defRPr sz="10400"/>
            </a:lvl3pPr>
            <a:lvl4pPr marL="0" indent="0" algn="ctr">
              <a:spcBef>
                <a:spcPts val="0"/>
              </a:spcBef>
              <a:buSzTx/>
              <a:buNone/>
              <a:defRPr sz="10400"/>
            </a:lvl4pPr>
            <a:lvl5pPr marL="0" indent="0" algn="ctr">
              <a:spcBef>
                <a:spcPts val="0"/>
              </a:spcBef>
              <a:buSzTx/>
              <a:buNone/>
              <a:defRPr sz="10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17588507" y="7274717"/>
            <a:ext cx="26521173" cy="17680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774906" y="7286625"/>
            <a:ext cx="15001876" cy="17680782"/>
          </a:xfrm>
          <a:prstGeom prst="rect">
            <a:avLst/>
          </a:prstGeom>
        </p:spPr>
        <p:txBody>
          <a:bodyPr/>
          <a:lstStyle>
            <a:lvl1pPr marL="955221" indent="-955221">
              <a:spcBef>
                <a:spcPts val="9000"/>
              </a:spcBef>
              <a:defRPr sz="7800"/>
            </a:lvl1pPr>
            <a:lvl2pPr marL="1298121" indent="-955221">
              <a:spcBef>
                <a:spcPts val="9000"/>
              </a:spcBef>
              <a:defRPr sz="7800"/>
            </a:lvl2pPr>
            <a:lvl3pPr marL="1641021" indent="-955221">
              <a:spcBef>
                <a:spcPts val="9000"/>
              </a:spcBef>
              <a:defRPr sz="7800"/>
            </a:lvl3pPr>
            <a:lvl4pPr marL="1983921" indent="-955221">
              <a:spcBef>
                <a:spcPts val="9000"/>
              </a:spcBef>
              <a:defRPr sz="7800"/>
            </a:lvl4pPr>
            <a:lvl5pPr marL="2326821" indent="-955221">
              <a:spcBef>
                <a:spcPts val="9000"/>
              </a:spcBef>
              <a:defRPr sz="7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914557" y="26146125"/>
            <a:ext cx="919836" cy="95885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774906" y="3571875"/>
            <a:ext cx="31218188" cy="202882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24884062" y="14144625"/>
            <a:ext cx="17028977" cy="113585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24384000" y="2500312"/>
            <a:ext cx="16502063" cy="11001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583407" y="2500312"/>
            <a:ext cx="33700639" cy="2246709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9667875" y="17895093"/>
            <a:ext cx="29432250" cy="128587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66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9667875" y="12001500"/>
            <a:ext cx="29432250" cy="1714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9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3424538" y="0"/>
            <a:ext cx="41918925" cy="27967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774906" y="714375"/>
            <a:ext cx="31218188" cy="607218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774906" y="7286625"/>
            <a:ext cx="31218188" cy="1768078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914557" y="26146125"/>
            <a:ext cx="919836" cy="942641"/>
          </a:xfrm>
          <a:prstGeom prst="rect">
            <a:avLst/>
          </a:prstGeom>
          <a:ln w="25400">
            <a:miter lim="400000"/>
          </a:ln>
        </p:spPr>
        <p:txBody>
          <a:bodyPr wrap="none" lIns="142875" tIns="142875" rIns="142875" bIns="142875">
            <a:spAutoFit/>
          </a:bodyPr>
          <a:lstStyle>
            <a:lvl1pPr>
              <a:defRPr sz="4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6430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12501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6946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21391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836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281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726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9171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3616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806156" marR="0" indent="-1250156" algn="l" defTabSz="1643062" rtl="0" latinLnBrk="0">
        <a:lnSpc>
          <a:spcPct val="100000"/>
        </a:lnSpc>
        <a:spcBef>
          <a:spcPts val="11800"/>
        </a:spcBef>
        <a:spcAft>
          <a:spcPts val="0"/>
        </a:spcAft>
        <a:buClrTx/>
        <a:buSzPct val="145000"/>
        <a:buFontTx/>
        <a:buChar char="•"/>
        <a:tabLst/>
        <a:defRPr sz="9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164306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B5335-8253-DE5A-BCF1-AF9A706D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4E745F6A-4378-D53D-CA7E-004AD8CA45E2}"/>
              </a:ext>
            </a:extLst>
          </p:cNvPr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702D75-043E-AB77-76B2-D1BFFBC1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900" y="3000375"/>
            <a:ext cx="27495500" cy="114428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37F949-26F1-F775-210E-9DE819D8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300" y="13951572"/>
            <a:ext cx="15265400" cy="104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597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B28C7-8FC3-D979-B39E-D223275D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81DE4119-F515-0ED1-868C-D215F25B0E58}"/>
              </a:ext>
            </a:extLst>
          </p:cNvPr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D9E2D-DE50-1E55-C6F3-86846EAE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747" y="6265841"/>
            <a:ext cx="28238506" cy="14900317"/>
          </a:xfrm>
          <a:prstGeom prst="rect">
            <a:avLst/>
          </a:prstGeom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2335B4A0-D9D4-B201-AC87-6558D372F460}"/>
              </a:ext>
            </a:extLst>
          </p:cNvPr>
          <p:cNvSpPr/>
          <p:nvPr/>
        </p:nvSpPr>
        <p:spPr>
          <a:xfrm>
            <a:off x="18504257" y="4762635"/>
            <a:ext cx="3858986" cy="1680482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55111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B8CD5-58F8-7BF2-B211-1A0D380D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6A185F83-7FE1-10F5-A0EE-A5B1330DE1C7}"/>
              </a:ext>
            </a:extLst>
          </p:cNvPr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5C4ED-B0CF-FDCD-D2E8-00C34196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457" y="4618805"/>
            <a:ext cx="26953086" cy="1819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585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112CA-BD50-E153-BB19-9598FC8A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244D475F-7144-EEA3-E5A2-7F9B31E52E7A}"/>
              </a:ext>
            </a:extLst>
          </p:cNvPr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074" name="Picture 2" descr="MindfulAgents Figure 1 showing Expert-Alignment, Reflection, and Personalization agents">
            <a:extLst>
              <a:ext uri="{FF2B5EF4-FFF2-40B4-BE49-F238E27FC236}">
                <a16:creationId xmlns:a16="http://schemas.microsoft.com/office/drawing/2014/main" id="{D214D63F-A40E-3AA9-A6AF-911CC3DDE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5982983"/>
            <a:ext cx="28575000" cy="1546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05173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61404-96D0-2A50-9AFA-531D336B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C3D10647-51F7-E46C-C67F-243F9DEF1993}"/>
              </a:ext>
            </a:extLst>
          </p:cNvPr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050" name="Picture 2" descr="Teaser for MIND project">
            <a:extLst>
              <a:ext uri="{FF2B5EF4-FFF2-40B4-BE49-F238E27FC236}">
                <a16:creationId xmlns:a16="http://schemas.microsoft.com/office/drawing/2014/main" id="{2CE38AB8-3239-1FCC-B42C-ACF28D50D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67" y="3983759"/>
            <a:ext cx="28346333" cy="194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2475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0AC1B-D9B8-A1AF-D931-27801215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>
            <a:extLst>
              <a:ext uri="{FF2B5EF4-FFF2-40B4-BE49-F238E27FC236}">
                <a16:creationId xmlns:a16="http://schemas.microsoft.com/office/drawing/2014/main" id="{2B810FA1-8876-5BC4-3B4E-8502C1B1BAF6}"/>
              </a:ext>
            </a:extLst>
          </p:cNvPr>
          <p:cNvSpPr/>
          <p:nvPr/>
        </p:nvSpPr>
        <p:spPr>
          <a:xfrm>
            <a:off x="9677664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D768DB-197D-6653-35EE-B3D35F9C5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3"/>
          <a:stretch/>
        </p:blipFill>
        <p:spPr bwMode="auto">
          <a:xfrm>
            <a:off x="9677664" y="5203248"/>
            <a:ext cx="14428340" cy="547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59405A5-AE92-21E2-3901-FD98D9D9E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46" b="29340"/>
          <a:stretch/>
        </p:blipFill>
        <p:spPr bwMode="auto">
          <a:xfrm>
            <a:off x="23755746" y="5203247"/>
            <a:ext cx="14428340" cy="630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C57A76-1ED1-8DF1-C943-CA866C061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91"/>
          <a:stretch/>
        </p:blipFill>
        <p:spPr bwMode="auto">
          <a:xfrm>
            <a:off x="10515335" y="12653013"/>
            <a:ext cx="25922497" cy="890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99189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22" name="SystemOverview.png" descr="System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247" y="3000375"/>
            <a:ext cx="26755506" cy="21431250"/>
          </a:xfrm>
          <a:prstGeom prst="rect">
            <a:avLst/>
          </a:prstGeom>
          <a:ln w="254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25" name="framework.png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625" y="5998312"/>
            <a:ext cx="27906750" cy="15446778"/>
          </a:xfrm>
          <a:prstGeom prst="rect">
            <a:avLst/>
          </a:prstGeom>
          <a:ln w="25400">
            <a:miter lim="400000"/>
          </a:ln>
        </p:spPr>
      </p:pic>
      <p:sp>
        <p:nvSpPr>
          <p:cNvPr id="126" name="Rectangle"/>
          <p:cNvSpPr/>
          <p:nvPr/>
        </p:nvSpPr>
        <p:spPr>
          <a:xfrm>
            <a:off x="18196718" y="16589375"/>
            <a:ext cx="10513503" cy="4263166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􀉪"/>
          <p:cNvSpPr txBox="1"/>
          <p:nvPr/>
        </p:nvSpPr>
        <p:spPr>
          <a:xfrm>
            <a:off x="12510501" y="4338232"/>
            <a:ext cx="2548441" cy="298387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B2977E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sp>
        <p:nvSpPr>
          <p:cNvPr id="130" name="􀉪"/>
          <p:cNvSpPr txBox="1"/>
          <p:nvPr/>
        </p:nvSpPr>
        <p:spPr>
          <a:xfrm>
            <a:off x="14689199" y="4338232"/>
            <a:ext cx="2548441" cy="298387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B07E9C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sp>
        <p:nvSpPr>
          <p:cNvPr id="131" name="􀉪"/>
          <p:cNvSpPr txBox="1"/>
          <p:nvPr/>
        </p:nvSpPr>
        <p:spPr>
          <a:xfrm>
            <a:off x="12510501" y="6727269"/>
            <a:ext cx="2548441" cy="298387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6A88AC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sp>
        <p:nvSpPr>
          <p:cNvPr id="132" name="􀉪"/>
          <p:cNvSpPr txBox="1"/>
          <p:nvPr/>
        </p:nvSpPr>
        <p:spPr>
          <a:xfrm>
            <a:off x="14689199" y="6727269"/>
            <a:ext cx="2548441" cy="298387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A996B4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grpSp>
        <p:nvGrpSpPr>
          <p:cNvPr id="136" name="Group"/>
          <p:cNvGrpSpPr/>
          <p:nvPr/>
        </p:nvGrpSpPr>
        <p:grpSpPr>
          <a:xfrm>
            <a:off x="25456509" y="5244495"/>
            <a:ext cx="11394149" cy="3527298"/>
            <a:chOff x="0" y="0"/>
            <a:chExt cx="11394147" cy="3527297"/>
          </a:xfrm>
        </p:grpSpPr>
        <p:pic>
          <p:nvPicPr>
            <p:cNvPr id="133" name="noun-chatgpt-5630047-81AA9E.png" descr="noun-chatgpt-5630047-81AA9E.png"/>
            <p:cNvPicPr>
              <a:picLocks noChangeAspect="1"/>
            </p:cNvPicPr>
            <p:nvPr/>
          </p:nvPicPr>
          <p:blipFill>
            <a:blip r:embed="rId2"/>
            <a:srcRect l="19836" t="19836" r="19836" b="19836"/>
            <a:stretch>
              <a:fillRect/>
            </a:stretch>
          </p:blipFill>
          <p:spPr>
            <a:xfrm>
              <a:off x="7880654" y="5576"/>
              <a:ext cx="3513494" cy="3513494"/>
            </a:xfrm>
            <a:prstGeom prst="rect">
              <a:avLst/>
            </a:prstGeom>
            <a:ln w="25400" cap="flat">
              <a:noFill/>
              <a:miter lim="400000"/>
            </a:ln>
            <a:effectLst/>
          </p:spPr>
        </p:pic>
        <p:pic>
          <p:nvPicPr>
            <p:cNvPr id="134" name="logo.png" descr="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513459" cy="3524613"/>
            </a:xfrm>
            <a:prstGeom prst="rect">
              <a:avLst/>
            </a:prstGeom>
            <a:ln w="25400" cap="flat">
              <a:noFill/>
              <a:miter lim="400000"/>
            </a:ln>
            <a:effectLst/>
          </p:spPr>
        </p:pic>
        <p:pic>
          <p:nvPicPr>
            <p:cNvPr id="135" name="Meta_logo.png" descr="Meta_logo.png"/>
            <p:cNvPicPr>
              <a:picLocks noChangeAspect="1"/>
            </p:cNvPicPr>
            <p:nvPr/>
          </p:nvPicPr>
          <p:blipFill>
            <a:blip r:embed="rId4"/>
            <a:srcRect t="16588"/>
            <a:stretch>
              <a:fillRect/>
            </a:stretch>
          </p:blipFill>
          <p:spPr>
            <a:xfrm>
              <a:off x="3670175" y="145928"/>
              <a:ext cx="4053822" cy="3381370"/>
            </a:xfrm>
            <a:prstGeom prst="rect">
              <a:avLst/>
            </a:prstGeom>
            <a:ln w="25400" cap="flat">
              <a:noFill/>
              <a:miter lim="400000"/>
            </a:ln>
            <a:effectLst/>
          </p:spPr>
        </p:pic>
      </p:grpSp>
      <p:sp>
        <p:nvSpPr>
          <p:cNvPr id="137" name="6 LLMs"/>
          <p:cNvSpPr txBox="1"/>
          <p:nvPr/>
        </p:nvSpPr>
        <p:spPr>
          <a:xfrm>
            <a:off x="26414241" y="9509080"/>
            <a:ext cx="9478683" cy="198456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 defTabSz="914400">
              <a:defRPr sz="9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6 LLMs</a:t>
            </a:r>
          </a:p>
        </p:txBody>
      </p:sp>
      <p:sp>
        <p:nvSpPr>
          <p:cNvPr id="138" name="Arrow"/>
          <p:cNvSpPr/>
          <p:nvPr/>
        </p:nvSpPr>
        <p:spPr>
          <a:xfrm>
            <a:off x="22127151" y="6192910"/>
            <a:ext cx="2271031" cy="2433321"/>
          </a:xfrm>
          <a:prstGeom prst="rightArrow">
            <a:avLst>
              <a:gd name="adj1" fmla="val 35159"/>
              <a:gd name="adj2" fmla="val 61581"/>
            </a:avLst>
          </a:prstGeom>
          <a:solidFill>
            <a:srgbClr val="000000"/>
          </a:solidFill>
          <a:ln w="25400">
            <a:miter lim="400000"/>
          </a:ln>
        </p:spPr>
        <p:txBody>
          <a:bodyPr lIns="0" tIns="0" rIns="0" bIns="0" anchor="ctr"/>
          <a:lstStyle/>
          <a:p>
            <a:pPr defTabSz="1651000">
              <a:defRPr sz="64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9" name="6 Mental Health Tasks"/>
          <p:cNvSpPr txBox="1"/>
          <p:nvPr/>
        </p:nvSpPr>
        <p:spPr>
          <a:xfrm>
            <a:off x="11455406" y="18497260"/>
            <a:ext cx="9478683" cy="357971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 defTabSz="914400">
              <a:defRPr sz="9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6 Mental Health Tasks</a:t>
            </a:r>
          </a:p>
        </p:txBody>
      </p:sp>
      <p:sp>
        <p:nvSpPr>
          <p:cNvPr id="140" name="􀉪"/>
          <p:cNvSpPr txBox="1"/>
          <p:nvPr/>
        </p:nvSpPr>
        <p:spPr>
          <a:xfrm>
            <a:off x="16867895" y="4338232"/>
            <a:ext cx="2548442" cy="298387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7470AE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sp>
        <p:nvSpPr>
          <p:cNvPr id="141" name="􀉪"/>
          <p:cNvSpPr txBox="1"/>
          <p:nvPr/>
        </p:nvSpPr>
        <p:spPr>
          <a:xfrm>
            <a:off x="16867895" y="6727269"/>
            <a:ext cx="2548442" cy="298387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/>
          <a:lstStyle>
            <a:lvl1pPr defTabSz="914400">
              <a:defRPr sz="14500" b="0">
                <a:solidFill>
                  <a:srgbClr val="4D5F62"/>
                </a:solidFill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􀉪</a:t>
            </a:r>
          </a:p>
        </p:txBody>
      </p:sp>
      <p:sp>
        <p:nvSpPr>
          <p:cNvPr id="142" name="&gt;10,000 Users"/>
          <p:cNvSpPr txBox="1"/>
          <p:nvPr/>
        </p:nvSpPr>
        <p:spPr>
          <a:xfrm>
            <a:off x="11224079" y="9509080"/>
            <a:ext cx="9478683" cy="198456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 defTabSz="914400">
              <a:defRPr sz="9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&gt;10,000 Users</a:t>
            </a:r>
          </a:p>
        </p:txBody>
      </p:sp>
      <p:sp>
        <p:nvSpPr>
          <p:cNvPr id="143" name="Arrow"/>
          <p:cNvSpPr/>
          <p:nvPr/>
        </p:nvSpPr>
        <p:spPr>
          <a:xfrm rot="5400000">
            <a:off x="30018068" y="11528980"/>
            <a:ext cx="2271030" cy="2433321"/>
          </a:xfrm>
          <a:prstGeom prst="rightArrow">
            <a:avLst>
              <a:gd name="adj1" fmla="val 35159"/>
              <a:gd name="adj2" fmla="val 61581"/>
            </a:avLst>
          </a:prstGeom>
          <a:solidFill>
            <a:srgbClr val="000000"/>
          </a:solidFill>
          <a:ln w="25400">
            <a:miter lim="400000"/>
          </a:ln>
        </p:spPr>
        <p:txBody>
          <a:bodyPr lIns="0" tIns="0" rIns="0" bIns="0" anchor="ctr"/>
          <a:lstStyle/>
          <a:p>
            <a:pPr defTabSz="1651000">
              <a:defRPr sz="64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4" name="Arrow"/>
          <p:cNvSpPr/>
          <p:nvPr/>
        </p:nvSpPr>
        <p:spPr>
          <a:xfrm rot="10800000">
            <a:off x="22127151" y="16617109"/>
            <a:ext cx="2271031" cy="2433321"/>
          </a:xfrm>
          <a:prstGeom prst="rightArrow">
            <a:avLst>
              <a:gd name="adj1" fmla="val 35159"/>
              <a:gd name="adj2" fmla="val 61581"/>
            </a:avLst>
          </a:prstGeom>
          <a:solidFill>
            <a:srgbClr val="000000"/>
          </a:solidFill>
          <a:ln w="25400">
            <a:miter lim="400000"/>
          </a:ln>
        </p:spPr>
        <p:txBody>
          <a:bodyPr lIns="0" tIns="0" rIns="0" bIns="0" anchor="ctr"/>
          <a:lstStyle/>
          <a:p>
            <a:pPr defTabSz="1651000">
              <a:defRPr sz="64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5" name="Zero-Shot"/>
          <p:cNvSpPr/>
          <p:nvPr/>
        </p:nvSpPr>
        <p:spPr>
          <a:xfrm>
            <a:off x="26940783" y="14712526"/>
            <a:ext cx="9062111" cy="2139665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Zero-Shot</a:t>
            </a:r>
          </a:p>
        </p:txBody>
      </p:sp>
      <p:sp>
        <p:nvSpPr>
          <p:cNvPr id="146" name="Few-Shot"/>
          <p:cNvSpPr/>
          <p:nvPr/>
        </p:nvSpPr>
        <p:spPr>
          <a:xfrm>
            <a:off x="26940783" y="16763937"/>
            <a:ext cx="9062111" cy="2139665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Few-Shot</a:t>
            </a:r>
          </a:p>
        </p:txBody>
      </p:sp>
      <p:sp>
        <p:nvSpPr>
          <p:cNvPr id="147" name="Instruction-Finetuning"/>
          <p:cNvSpPr/>
          <p:nvPr/>
        </p:nvSpPr>
        <p:spPr>
          <a:xfrm>
            <a:off x="26940783" y="18782509"/>
            <a:ext cx="9062111" cy="3009221"/>
          </a:xfrm>
          <a:prstGeom prst="roundRect">
            <a:avLst>
              <a:gd name="adj" fmla="val 15276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lnSpc>
                <a:spcPct val="80000"/>
              </a:lnSpc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Instruction-Finetuning</a:t>
            </a:r>
          </a:p>
        </p:txBody>
      </p:sp>
      <p:sp>
        <p:nvSpPr>
          <p:cNvPr id="148" name="Stress"/>
          <p:cNvSpPr/>
          <p:nvPr/>
        </p:nvSpPr>
        <p:spPr>
          <a:xfrm>
            <a:off x="11663691" y="13685147"/>
            <a:ext cx="4647053" cy="2139665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Stress</a:t>
            </a:r>
          </a:p>
        </p:txBody>
      </p:sp>
      <p:sp>
        <p:nvSpPr>
          <p:cNvPr id="149" name="Suicide"/>
          <p:cNvSpPr/>
          <p:nvPr/>
        </p:nvSpPr>
        <p:spPr>
          <a:xfrm>
            <a:off x="15968254" y="13685147"/>
            <a:ext cx="4647053" cy="2139665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Suicide</a:t>
            </a:r>
          </a:p>
        </p:txBody>
      </p:sp>
      <p:sp>
        <p:nvSpPr>
          <p:cNvPr id="150" name="Depression"/>
          <p:cNvSpPr/>
          <p:nvPr/>
        </p:nvSpPr>
        <p:spPr>
          <a:xfrm>
            <a:off x="11663691" y="15739907"/>
            <a:ext cx="9062112" cy="2139665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889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75" tIns="142875" rIns="142875" bIns="142875" anchor="ctr"/>
          <a:lstStyle>
            <a:lvl1pPr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Depression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53" name="Untitled.png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549" y="8592491"/>
            <a:ext cx="21432488" cy="11673052"/>
          </a:xfrm>
          <a:prstGeom prst="rect">
            <a:avLst/>
          </a:prstGeom>
          <a:ln w="25400">
            <a:miter lim="400000"/>
          </a:ln>
        </p:spPr>
      </p:pic>
      <p:pic>
        <p:nvPicPr>
          <p:cNvPr id="154" name="doctor2.png" descr="docto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216" y="18954109"/>
            <a:ext cx="5194135" cy="5194135"/>
          </a:xfrm>
          <a:prstGeom prst="rect">
            <a:avLst/>
          </a:prstGeom>
          <a:ln w="25400">
            <a:miter lim="400000"/>
          </a:ln>
        </p:spPr>
      </p:pic>
      <p:sp>
        <p:nvSpPr>
          <p:cNvPr id="155" name="LLM-Powered Interpretation…"/>
          <p:cNvSpPr txBox="1"/>
          <p:nvPr/>
        </p:nvSpPr>
        <p:spPr>
          <a:xfrm>
            <a:off x="15672435" y="3878258"/>
            <a:ext cx="17423131" cy="344488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11000">
                <a:latin typeface="Optima"/>
                <a:ea typeface="Optima"/>
                <a:cs typeface="Optima"/>
                <a:sym typeface="Optima"/>
              </a:defRPr>
            </a:pPr>
            <a:r>
              <a:t>LLM-Powered Interpretation</a:t>
            </a:r>
            <a:endParaRPr>
              <a:solidFill>
                <a:srgbClr val="EB8777"/>
              </a:solidFill>
            </a:endParaRPr>
          </a:p>
          <a:p>
            <a:pPr defTabSz="825500">
              <a:defRPr sz="11000">
                <a:latin typeface="Optima"/>
                <a:ea typeface="Optima"/>
                <a:cs typeface="Optima"/>
                <a:sym typeface="Optima"/>
              </a:defRPr>
            </a:pPr>
            <a:r>
              <a:t>for Wearable Data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5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778" y="5256269"/>
            <a:ext cx="27546444" cy="7179499"/>
          </a:xfrm>
          <a:prstGeom prst="rect">
            <a:avLst/>
          </a:prstGeom>
          <a:ln w="25400">
            <a:miter lim="400000"/>
          </a:ln>
        </p:spPr>
      </p:pic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969" y="14338371"/>
            <a:ext cx="27454062" cy="7872251"/>
          </a:xfrm>
          <a:prstGeom prst="rect">
            <a:avLst/>
          </a:prstGeom>
          <a:ln w="254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2" name="application_scenario1_large.png" descr="application_scenario1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5681995"/>
            <a:ext cx="28575000" cy="16068010"/>
          </a:xfrm>
          <a:prstGeom prst="rect">
            <a:avLst/>
          </a:prstGeom>
          <a:ln w="254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639" y="6477793"/>
            <a:ext cx="27746722" cy="9700515"/>
          </a:xfrm>
          <a:prstGeom prst="rect">
            <a:avLst/>
          </a:prstGeom>
          <a:ln w="25400">
            <a:miter lim="400000"/>
          </a:ln>
        </p:spPr>
      </p:pic>
      <p:sp>
        <p:nvSpPr>
          <p:cNvPr id="166" name="AI Evolving with Users in Longitudinal Deployment"/>
          <p:cNvSpPr txBox="1"/>
          <p:nvPr/>
        </p:nvSpPr>
        <p:spPr>
          <a:xfrm>
            <a:off x="12254261" y="22400156"/>
            <a:ext cx="24259478" cy="13827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500">
                <a:latin typeface="Optima"/>
                <a:ea typeface="Optima"/>
                <a:cs typeface="Optima"/>
                <a:sym typeface="Optima"/>
              </a:defRPr>
            </a:lvl1pPr>
          </a:lstStyle>
          <a:p>
            <a:r>
              <a:t>AI Evolving with Users in Longitudinal Deployment</a:t>
            </a:r>
          </a:p>
        </p:txBody>
      </p:sp>
      <p:sp>
        <p:nvSpPr>
          <p:cNvPr id="167" name="AI-Powered JITAI System for Phone Addiction"/>
          <p:cNvSpPr txBox="1"/>
          <p:nvPr/>
        </p:nvSpPr>
        <p:spPr>
          <a:xfrm>
            <a:off x="12936283" y="4122475"/>
            <a:ext cx="22895434" cy="145733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9000">
                <a:latin typeface="Optima"/>
                <a:ea typeface="Optima"/>
                <a:cs typeface="Optima"/>
                <a:sym typeface="Optima"/>
              </a:defRPr>
            </a:pPr>
            <a:r>
              <a:rPr>
                <a:solidFill>
                  <a:srgbClr val="EB8777"/>
                </a:solidFill>
              </a:rPr>
              <a:t>AI-Powered JITAI System</a:t>
            </a:r>
            <a:r>
              <a:t> for Phone Addiction</a:t>
            </a:r>
          </a:p>
        </p:txBody>
      </p:sp>
      <p:pic>
        <p:nvPicPr>
          <p:cNvPr id="16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639" y="17076294"/>
            <a:ext cx="27746722" cy="4254137"/>
          </a:xfrm>
          <a:prstGeom prst="rect">
            <a:avLst/>
          </a:prstGeom>
          <a:ln w="254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1" animBg="1" advAuto="0"/>
      <p:bldP spid="167" grpId="2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71" name="overview.png" descr="overview.png"/>
          <p:cNvPicPr>
            <a:picLocks noChangeAspect="1"/>
          </p:cNvPicPr>
          <p:nvPr/>
        </p:nvPicPr>
        <p:blipFill>
          <a:blip r:embed="rId2"/>
          <a:srcRect l="27741" t="18343" r="5545"/>
          <a:stretch>
            <a:fillRect/>
          </a:stretch>
        </p:blipFill>
        <p:spPr>
          <a:xfrm>
            <a:off x="10393164" y="7723491"/>
            <a:ext cx="27981586" cy="15593921"/>
          </a:xfrm>
          <a:prstGeom prst="rect">
            <a:avLst/>
          </a:prstGeom>
          <a:ln w="25400">
            <a:miter lim="400000"/>
          </a:ln>
        </p:spPr>
      </p:pic>
      <p:sp>
        <p:nvSpPr>
          <p:cNvPr id="172" name="LLM-Powered Intervention for Phone Addiction"/>
          <p:cNvSpPr txBox="1"/>
          <p:nvPr/>
        </p:nvSpPr>
        <p:spPr>
          <a:xfrm>
            <a:off x="12487084" y="4122475"/>
            <a:ext cx="23793832" cy="145733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9000">
                <a:latin typeface="Optima"/>
                <a:ea typeface="Optima"/>
                <a:cs typeface="Optima"/>
                <a:sym typeface="Optima"/>
              </a:defRPr>
            </a:pPr>
            <a:r>
              <a:rPr>
                <a:solidFill>
                  <a:srgbClr val="EB8777"/>
                </a:solidFill>
              </a:rPr>
              <a:t>LLM-Powered Intervention</a:t>
            </a:r>
            <a:r>
              <a:t> for Phone Addiction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1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75" name="application_scenario2_large.png" descr="application_scenario2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5676812"/>
            <a:ext cx="28575000" cy="16078376"/>
          </a:xfrm>
          <a:prstGeom prst="rect">
            <a:avLst/>
          </a:prstGeom>
          <a:ln w="254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"/>
          <p:cNvSpPr/>
          <p:nvPr/>
        </p:nvSpPr>
        <p:spPr>
          <a:xfrm>
            <a:off x="10096500" y="3000375"/>
            <a:ext cx="28575000" cy="21431250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87" name="overview-details.png" descr="overview-details.png"/>
          <p:cNvPicPr>
            <a:picLocks noChangeAspect="1"/>
          </p:cNvPicPr>
          <p:nvPr/>
        </p:nvPicPr>
        <p:blipFill>
          <a:blip r:embed="rId2"/>
          <a:srcRect t="19451" r="54182" b="18373"/>
          <a:stretch>
            <a:fillRect/>
          </a:stretch>
        </p:blipFill>
        <p:spPr>
          <a:xfrm>
            <a:off x="13211968" y="3108136"/>
            <a:ext cx="22344253" cy="9131227"/>
          </a:xfrm>
          <a:prstGeom prst="rect">
            <a:avLst/>
          </a:prstGeom>
          <a:ln w="25400">
            <a:miter lim="400000"/>
          </a:ln>
        </p:spPr>
      </p:pic>
      <p:pic>
        <p:nvPicPr>
          <p:cNvPr id="188" name="overview-details.png" descr="overview-details.png"/>
          <p:cNvPicPr>
            <a:picLocks noChangeAspect="1"/>
          </p:cNvPicPr>
          <p:nvPr/>
        </p:nvPicPr>
        <p:blipFill>
          <a:blip r:embed="rId2"/>
          <a:srcRect l="51111"/>
          <a:stretch>
            <a:fillRect/>
          </a:stretch>
        </p:blipFill>
        <p:spPr>
          <a:xfrm>
            <a:off x="14789348" y="12265700"/>
            <a:ext cx="19189320" cy="11820282"/>
          </a:xfrm>
          <a:prstGeom prst="rect">
            <a:avLst/>
          </a:prstGeom>
          <a:ln w="25400">
            <a:miter lim="400000"/>
          </a:ln>
        </p:spPr>
      </p:pic>
      <p:sp>
        <p:nvSpPr>
          <p:cNvPr id="189" name="Rectangle"/>
          <p:cNvSpPr/>
          <p:nvPr/>
        </p:nvSpPr>
        <p:spPr>
          <a:xfrm>
            <a:off x="24365556" y="3060834"/>
            <a:ext cx="302819" cy="9651613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0" name="Rectangle"/>
          <p:cNvSpPr/>
          <p:nvPr/>
        </p:nvSpPr>
        <p:spPr>
          <a:xfrm>
            <a:off x="27830440" y="12253127"/>
            <a:ext cx="2982861" cy="1086421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1" name="Rectangle"/>
          <p:cNvSpPr/>
          <p:nvPr/>
        </p:nvSpPr>
        <p:spPr>
          <a:xfrm>
            <a:off x="27957440" y="13172789"/>
            <a:ext cx="399202" cy="6910977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2" name="Rectangle"/>
          <p:cNvSpPr/>
          <p:nvPr/>
        </p:nvSpPr>
        <p:spPr>
          <a:xfrm>
            <a:off x="28084440" y="19770456"/>
            <a:ext cx="5750488" cy="316262"/>
          </a:xfrm>
          <a:prstGeom prst="rect">
            <a:avLst/>
          </a:prstGeom>
          <a:solidFill>
            <a:srgbClr val="FFFFFF"/>
          </a:solidFill>
          <a:ln w="25400">
            <a:miter lim="400000"/>
          </a:ln>
        </p:spPr>
        <p:txBody>
          <a:bodyPr lIns="142875" tIns="142875" rIns="142875" bIns="142875" anchor="ctr"/>
          <a:lstStyle/>
          <a:p>
            <a:pPr>
              <a:defRPr sz="6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42875" tIns="142875" rIns="142875" bIns="142875" numCol="1" spcCol="38100" rtlCol="0" anchor="ctr">
        <a:spAutoFit/>
      </a:bodyPr>
      <a:lstStyle>
        <a:defPPr marL="0" marR="0" indent="0" algn="ctr" defTabSz="164306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42875" tIns="142875" rIns="142875" bIns="142875" numCol="1" spcCol="38100" rtlCol="0" anchor="ctr">
        <a:spAutoFit/>
      </a:bodyPr>
      <a:lstStyle>
        <a:defPPr marL="0" marR="0" indent="0" algn="ctr" defTabSz="164306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42875" tIns="142875" rIns="142875" bIns="142875" numCol="1" spcCol="38100" rtlCol="0" anchor="ctr">
        <a:spAutoFit/>
      </a:bodyPr>
      <a:lstStyle>
        <a:defPPr marL="0" marR="0" indent="0" algn="ctr" defTabSz="164306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42875" tIns="142875" rIns="142875" bIns="142875" numCol="1" spcCol="38100" rtlCol="0" anchor="ctr">
        <a:spAutoFit/>
      </a:bodyPr>
      <a:lstStyle>
        <a:defPPr marL="0" marR="0" indent="0" algn="ctr" defTabSz="164306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44</Words>
  <Application>Microsoft Macintosh PowerPoint</Application>
  <PresentationFormat>Custom</PresentationFormat>
  <Paragraphs>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Helvetica Light</vt:lpstr>
      <vt:lpstr>Helvetica Neue</vt:lpstr>
      <vt:lpstr>Helvetica Neue Light</vt:lpstr>
      <vt:lpstr>Helvetica Neue Medium</vt:lpstr>
      <vt:lpstr>Helvetica Neue Thin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Orson Xu</cp:lastModifiedBy>
  <cp:revision>6</cp:revision>
  <dcterms:modified xsi:type="dcterms:W3CDTF">2026-05-17T03:59:39Z</dcterms:modified>
</cp:coreProperties>
</file>